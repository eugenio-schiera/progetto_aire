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59" r:id="rId13"/>
    <p:sldId id="260" r:id="rId14"/>
    <p:sldId id="276" r:id="rId15"/>
    <p:sldId id="277" r:id="rId16"/>
    <p:sldId id="278" r:id="rId17"/>
    <p:sldId id="279" r:id="rId18"/>
    <p:sldId id="280" r:id="rId19"/>
    <p:sldId id="28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569"/>
    <a:srgbClr val="F872BC"/>
    <a:srgbClr val="50A0F3"/>
    <a:srgbClr val="8719CB"/>
    <a:srgbClr val="FCB3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46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B126E-0132-0C09-DD27-F4ED5402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5C6DC-68B3-35F7-5481-D15979E7F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B9B74-E18C-4C86-32EB-4C3F19A07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A9A48-F13C-3E35-86B3-1B8240B1C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04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i.comune.milano.it/web/portale-del-dat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ugenio-schiera/progetto_air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i.comune.milano.it/web/portale-del-dat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ugenio-schiera/progetto_air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37160" y="5486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AIRE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dell'Aria</a:t>
            </a:r>
            <a:endParaRPr lang="en-US" sz="4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Milano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dei dati ambientali, database MySQL, applicazione Tkinter e dashboard Power BI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17621" y="4818888"/>
            <a:ext cx="827772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Comune di Milano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GitHub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Maggio 2026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Cruceru •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Domenicale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Fappani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Moretti •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Schiera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13232" y="11612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Raccolta dei Dati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open data Comune di Milano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13232" y="23500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ER &amp; Database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Progettazione e caricamento MySQL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13232" y="35387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Applicazione Desktop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Python/Tkinter con CRUD e grafici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010912" y="11612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10912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10912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Boxplot, trend temporali, confronto stazioni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402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010912" y="23500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10912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KPI, grafici interattivi e mappa geografica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42900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010912" y="35387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10912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10912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 evidenze sulla qualità dell'aria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Raccolta dei Dati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dei Dati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Comune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di Milano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47088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76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Rilevazione Qualità Aria 2026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Concentrazioni giornaliere degli inquinanti misurate da ciascuna stazione di monitoraggio.</a:t>
            </a:r>
            <a:endParaRPr lang="en-US" sz="1100" i="1" dirty="0"/>
          </a:p>
        </p:txBody>
      </p:sp>
      <p:sp>
        <p:nvSpPr>
          <p:cNvPr id="10" name="Shape 8"/>
          <p:cNvSpPr/>
          <p:nvPr/>
        </p:nvSpPr>
        <p:spPr>
          <a:xfrm>
            <a:off x="685800" y="2907792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2369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Stazione Monitoraggio Inquinanti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Anagrafiche delle centraline: nome, coordinate geografiche e periodi di attività.</a:t>
            </a:r>
            <a:endParaRPr lang="en-US" sz="1100" i="1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5800" y="4041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 err="1"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progetto_aire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7091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Inquinanti Monitorati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16184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74920" y="1600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600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Biossido di Azoto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0208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074920" y="20025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002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423160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074920" y="24048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2404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Particolato ≤10µm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825496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074920" y="28072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2807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Particolato ≤2.5µm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227832"/>
            <a:ext cx="256032" cy="25603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5074920" y="320954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630168"/>
            <a:ext cx="256032" cy="25603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074920" y="3611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Biossido di Zolfo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4032504"/>
            <a:ext cx="256032" cy="25603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074920" y="40142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CO_8h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40142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Monossido di Carbonio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Schema 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754880" cy="336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530352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Database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0" y="1389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schema ER è stato progettato per rappresentare i dati relativi al monitoraggio della qualità dell'aria. Il database è composto da quattro tabelle: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03520" y="2048256"/>
            <a:ext cx="164592" cy="164592"/>
          </a:xfrm>
          <a:prstGeom prst="ellipse">
            <a:avLst/>
          </a:prstGeom>
          <a:solidFill>
            <a:srgbClr val="F872BC"/>
          </a:solidFill>
          <a:ln w="12700">
            <a:solidFill>
              <a:srgbClr val="F872B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541264" y="20116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stazione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41264" y="2240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 le informazioni sulle stazioni di rilevamento: identificativo, nome, coordinate geografiche e periodo di attività.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03520" y="2734056"/>
            <a:ext cx="164592" cy="164592"/>
          </a:xfrm>
          <a:prstGeom prst="ellipse">
            <a:avLst/>
          </a:prstGeom>
          <a:solidFill>
            <a:srgbClr val="50A0F3"/>
          </a:solidFill>
          <a:ln w="12700">
            <a:solidFill>
              <a:srgbClr val="50A0F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541264" y="26974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inquinante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41264" y="2926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 i codici degli inquinanti monitorati.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419856"/>
            <a:ext cx="164592" cy="164592"/>
          </a:xfrm>
          <a:prstGeom prst="ellipse">
            <a:avLst/>
          </a:prstGeom>
          <a:solidFill>
            <a:srgbClr val="FCB311"/>
          </a:solidFill>
          <a:ln w="12700">
            <a:solidFill>
              <a:srgbClr val="FCB31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5541264" y="33832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misurazione_giornaliera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41264" y="3611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 valori misurati quotidianamente associando una stazione, una data e un inquinante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specifico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03520" y="4105656"/>
            <a:ext cx="164592" cy="164592"/>
          </a:xfrm>
          <a:prstGeom prst="ellipse">
            <a:avLst/>
          </a:prstGeom>
          <a:solidFill>
            <a:srgbClr val="8719CB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541264" y="40690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stazione_inquinante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41264" y="4297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ponte per la relazione molti-a-molti tra stazioni e inquinanti.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85816" y="4791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schema evita ridondanze, migliora l'organizzazione dei dati e facilita interrogazioni e analisi SQL.</a:t>
            </a:r>
            <a:endParaRPr lang="en-US" sz="10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4C4C8F66-DD71-B6FF-2AC6-A5FF2CD98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05840"/>
            <a:ext cx="5230368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Database MySQL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8278" y="987551"/>
            <a:ext cx="8562032" cy="798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È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stato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creato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il database MySQL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denominato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“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aire_db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”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seguendo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lo schema ER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progettato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Le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tabelle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del database,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popolato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con I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dati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importati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dai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file CSV,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sono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mostrate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di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seguito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Per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ciascuna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tabella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è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mostrato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un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estratto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dei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dati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per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evidenziare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le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colonne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principali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e la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corretta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implementazione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dello</a:t>
            </a: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 schema.</a:t>
            </a:r>
          </a:p>
        </p:txBody>
      </p:sp>
      <p:sp>
        <p:nvSpPr>
          <p:cNvPr id="5" name="Text 3"/>
          <p:cNvSpPr/>
          <p:nvPr/>
        </p:nvSpPr>
        <p:spPr>
          <a:xfrm>
            <a:off x="258278" y="1871959"/>
            <a:ext cx="27568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misurazione_giornaliera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45456" y="189024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stazione_inquinante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882386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stazione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69823" y="1847042"/>
            <a:ext cx="64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inquinante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278" y="2118847"/>
            <a:ext cx="2756836" cy="2200817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0" y="2174289"/>
            <a:ext cx="2626012" cy="20899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145456" y="2118847"/>
            <a:ext cx="1371600" cy="2073859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176" y="2173529"/>
            <a:ext cx="1280160" cy="198241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0" y="2130610"/>
            <a:ext cx="3505200" cy="1150001"/>
          </a:xfrm>
          <a:prstGeom prst="rect">
            <a:avLst/>
          </a:prstGeom>
          <a:solidFill>
            <a:srgbClr val="FFFFFF"/>
          </a:solidFill>
          <a:ln w="1270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933" y="2188303"/>
            <a:ext cx="3403333" cy="103461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76260" y="2136535"/>
            <a:ext cx="644050" cy="16895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4" y="2188303"/>
            <a:ext cx="518962" cy="1576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Applicazione Desktop – Python &amp; Tkinter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Sviluppato un'applicazione desktop in Python con Tkinter, collegata direttamente al database aire_db tramite connettore MySQL. Questo la rende il livello applicativo che si poggia sul database relazionale progettato nella fase precedente.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377440" cy="1371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MySQL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aire_db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706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tabelle relazionali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37744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52044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mysql-connector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-python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49040" y="1691640"/>
            <a:ext cx="18288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74904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4904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&amp; Query SQL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49040" y="2706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dati · CRUD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377440"/>
            <a:ext cx="10058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35508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2468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29400" y="1691640"/>
            <a:ext cx="2194560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62940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629400" y="2212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Tkinter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2487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Utente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29400" y="27066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schermate navigate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273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5 schermate dell'applicazione: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621024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76656" y="3563913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" y="3767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iniziale con descrizione dell'app e guida alle funzionalità.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1421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76656" y="3959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Misurazioni (CRUD)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interattiva con filtri per stazione/inquinante, inserimento, modifica ed eliminazione record.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50799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76656" y="4453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 Analisi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" y="4654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grafici Matplotlib integrati: andamento temporale medio di PM10 e NO₂.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618777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882896" y="35570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Superamenti UE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82896" y="3813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delle giornate critiche in cui gli inquinanti superano le soglie di legge europea.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08736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882896" y="4032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Stazioni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82896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Elenco delle stazioni attive con coordinate geografiche (latitudine e longitudine).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Schermata Home -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CRUD –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Stazioni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6568" y="1005840"/>
            <a:ext cx="4126832" cy="175156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28600" y="987254"/>
            <a:ext cx="411480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88758" y="99378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26280" y="1005840"/>
            <a:ext cx="4572000" cy="32206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526280" y="1005840"/>
            <a:ext cx="45720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572000" y="1024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Misurazioni (CRUD)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5880"/>
            <a:ext cx="4480560" cy="2717717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0F1D0790-71BC-D2CA-0BEA-36F23D2E1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758" y="1298150"/>
            <a:ext cx="4023359" cy="1440266"/>
          </a:xfrm>
          <a:prstGeom prst="rect">
            <a:avLst/>
          </a:prstGeom>
        </p:spPr>
      </p:pic>
      <p:sp>
        <p:nvSpPr>
          <p:cNvPr id="19" name="Shape 10">
            <a:extLst>
              <a:ext uri="{FF2B5EF4-FFF2-40B4-BE49-F238E27FC236}">
                <a16:creationId xmlns:a16="http://schemas.microsoft.com/office/drawing/2014/main" id="{FED336DC-D3A6-E042-F787-43439B8E4761}"/>
              </a:ext>
            </a:extLst>
          </p:cNvPr>
          <p:cNvSpPr/>
          <p:nvPr/>
        </p:nvSpPr>
        <p:spPr>
          <a:xfrm>
            <a:off x="216568" y="3264568"/>
            <a:ext cx="4203032" cy="166669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1C63057C-255E-C83E-896D-33C367E79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655" y="3404013"/>
            <a:ext cx="4114801" cy="1279168"/>
          </a:xfrm>
          <a:prstGeom prst="rect">
            <a:avLst/>
          </a:prstGeom>
        </p:spPr>
      </p:pic>
      <p:sp>
        <p:nvSpPr>
          <p:cNvPr id="23" name="Shape 11">
            <a:extLst>
              <a:ext uri="{FF2B5EF4-FFF2-40B4-BE49-F238E27FC236}">
                <a16:creationId xmlns:a16="http://schemas.microsoft.com/office/drawing/2014/main" id="{2066AEA4-B24D-EEA5-03EE-CFE3DF225BD3}"/>
              </a:ext>
            </a:extLst>
          </p:cNvPr>
          <p:cNvSpPr/>
          <p:nvPr/>
        </p:nvSpPr>
        <p:spPr>
          <a:xfrm>
            <a:off x="228600" y="3056580"/>
            <a:ext cx="419100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8F4C05A4-D8A7-B087-EF00-851F4625E7E4}"/>
              </a:ext>
            </a:extLst>
          </p:cNvPr>
          <p:cNvSpPr/>
          <p:nvPr/>
        </p:nvSpPr>
        <p:spPr>
          <a:xfrm>
            <a:off x="288758" y="3074868"/>
            <a:ext cx="4126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Stazioni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Superamenti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629682"/>
            <a:ext cx="4297680" cy="285237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37160" y="1593106"/>
            <a:ext cx="42976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82880" y="16182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 Analisi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00014"/>
            <a:ext cx="4206240" cy="234945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80560" y="1564643"/>
            <a:ext cx="4526280" cy="29824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480560" y="1564643"/>
            <a:ext cx="45262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532296" y="1582931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Superamenti UE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000014"/>
            <a:ext cx="4434840" cy="24795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Analisi Esplorativa dei Dati (EDA)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Produrre un'analisi esplorativa leggibile dei dati ambientali raccolti, per evidenziare distribuzioni, tendenze temporali, differenze geografiche e criticità rispetto ai limiti europei.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9436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" y="21488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degli Inquinanti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264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delle concentrazioni per confrontare rapidamente la variabilità e i valori anomali di ciascun inquinante.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64008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94360" y="3035808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" y="30449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Temporale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9264" y="3319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a linee multi-inquinante sull'intero periodo (feb–mar 2026) per osservare oscillazioni e picchi.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64008" cy="7498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594360" y="3931920"/>
            <a:ext cx="274320" cy="27432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9436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9264" y="394106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tra Stazioni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9264" y="42153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a barre per confrontare la concentrazione media globale dei vari inquinanti per stazione di rilevamento.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208483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892040" y="2084832"/>
            <a:ext cx="6400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5029200" y="2139696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02920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04104" y="214884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Giorni oltre i Limiti 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04104" y="2423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Conteggio per stazione dei giorni in cui NO₂, PM10 e PM25 hanno superato le soglie normative europee.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980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892040" y="2980944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5029200" y="303580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02920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04104" y="304495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04104" y="33192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testuale delle principali evidenze emerse dall'analisi, con indicazione degli inquinanti e delle aree più critiche.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Distribuzione della Concentrazione per Inquinante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0" cy="30535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394960" cy="29621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005840"/>
            <a:ext cx="3063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89320" y="1024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Boxplot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371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delle concentrazioni (µg/m³): confronto rapido tra variabilità e distribuzione dei 7 inquinanti monitorati.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96677" y="1874520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108192" y="18148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O₃ e NO₂ — valori più elevati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08191" y="2043566"/>
            <a:ext cx="2852929" cy="600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Occupano la parte alta della distribuzione. L'ozono mostra dispersione molto ampia: le sue concentrazioni oscillano considerevolmente nel tempo.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86250" y="2755198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4" name="Text 11"/>
          <p:cNvSpPr/>
          <p:nvPr/>
        </p:nvSpPr>
        <p:spPr>
          <a:xfrm>
            <a:off x="6099046" y="3595493"/>
            <a:ext cx="2871218" cy="383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presenta una dispersione abbastanza ampia; PM25 è distribuito in modo più compatto e stabile.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86250" y="3454457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094476" y="27057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con valori anomali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99046" y="2857576"/>
            <a:ext cx="2852928" cy="57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 mostrando una distribuzione concentrata, il NO₂ presenta diversi outlier che segnalano giornate con concentrazioni eccezionalmente alte.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86250" y="4059429"/>
            <a:ext cx="137160" cy="1371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108190" y="40187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C₆H₆, SO₂ e CO_8h — valori bassi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08190" y="4258672"/>
            <a:ext cx="2852930" cy="475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Collocati nella parte bassa del grafico: concentrazioni ridotte e poco variabili durante tutto il periodo.</a:t>
            </a:r>
            <a:endParaRPr lang="en-US" sz="105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B2A7D83A-4812-7385-34B4-8B116784778B}"/>
              </a:ext>
            </a:extLst>
          </p:cNvPr>
          <p:cNvSpPr/>
          <p:nvPr/>
        </p:nvSpPr>
        <p:spPr>
          <a:xfrm>
            <a:off x="6094476" y="3407675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variabile, PM2.5 più stabile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Andamento Temporale Medio degli Inquinanti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550408" cy="30499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394960" cy="2662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005840"/>
            <a:ext cx="306324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89320" y="1024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Grafico a Linee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371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Concentrazione media giornaliera (µg/m³) per tutti gli inquinanti nel periodo feb–apr 2026.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97880" y="1888116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108192" y="18319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O₃ in crescita nel periodo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08192" y="20466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L'ozono mostra un andamento molto variabile e tende ad aumentare nella seconda parte del periodo, raggiungendo alcuni dei valori più alti registrati.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97880" y="2738548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3" name="Text 10"/>
          <p:cNvSpPr/>
          <p:nvPr/>
        </p:nvSpPr>
        <p:spPr>
          <a:xfrm>
            <a:off x="6108192" y="269028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con oscillazioni significative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08192" y="2827019"/>
            <a:ext cx="2788920" cy="639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Alternanza marcata di picchi e cali. La concentrazione non rimane costante: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influenzata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sensibilmente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fattori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atmosferici e di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traffico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97880" y="3469186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108192" y="3411475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e PM25 — andamento simile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08192" y="3643763"/>
            <a:ext cx="2852928" cy="412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inferiori a O₃ e NO₂ ma con variazioni evidenti nel tempo; in alcuni periodi si osservano diminuzioni improvvise seguite da risalite.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97880" y="4154564"/>
            <a:ext cx="137160" cy="1371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108192" y="41042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C₆H₆, SO₂ e CO_8h stabili e bassi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08192" y="43194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Mantengono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concentrazioni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osservato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senza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picchi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rilevanti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Confronto dei Livelli di Inquinamento tra Stazioni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550408" cy="308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394960" cy="2660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005840"/>
            <a:ext cx="3063240" cy="2926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89320" y="1024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Grafico a Barre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371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Concentrazione media globale per stazione e inquinante: 5 stazioni attive nel periodo analizzato.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97880" y="1902594"/>
            <a:ext cx="137160" cy="13716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108192" y="185318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Verziere — O₃ più alto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08192" y="2048256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stazione di Verziere mostra il valore medio più elevato per l'ozono rispetto a tutte le altre aree monitorate.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97880" y="2633472"/>
            <a:ext cx="137160" cy="13716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108192" y="25786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elevato ovunque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08192" y="2793492"/>
            <a:ext cx="2852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NO₂ mantiene livelli alti in quasi tutte le stazioni, suggerendo una diffusione abbastanza uniforme nell'area urbana.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97880" y="3355848"/>
            <a:ext cx="137160" cy="13716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108192" y="3314619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Viale Marche e Via Senato — PM più alto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08192" y="3538728"/>
            <a:ext cx="2852928" cy="6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e PM25 raggiungono concentrazioni relativamente più alte in queste due stazioni: possibile accumulo di particolato legato alla densità del traffico.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97880" y="4246987"/>
            <a:ext cx="137160" cy="137160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108192" y="420696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C₆H₆, SO₂ e CO_8h uniformi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08192" y="4405644"/>
            <a:ext cx="283464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Concentrazioni mediamente basse in tutte le stazioni, con variazioni molto contenute tra le diverse aree della città.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Giorni oltre i Limiti UE per Stazione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0" cy="27615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394960" cy="26701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005840"/>
            <a:ext cx="30632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89320" y="1024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Conteggio Superamenti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371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di giorni in cui NO₂, PM10 e PM25 hanno superato i rispettivi limiti normativi europei.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97880" y="1906524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108192" y="18470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— inquinante più critico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08192" y="2052828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i limiti UE in tutte le stazioni monitorate. Viale Liguria e viale Marche registrano il numero più alto di giorni oltre soglia.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97880" y="257860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108192" y="25237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PM25 — criticità localizzate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08192" y="2715768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Superamenti significativi in via Pascal, via Senato e viale Marche. Indica una presenza rilevante di particolato fine in queste zone.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97880" y="3278124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108192" y="32186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— superamenti più contenuti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08192" y="339242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inferiore di superamenti rispetto a NO₂ e PM25, anche se viale Marche mostra comunque valori più elevati rispetto alle altre stazioni.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97880" y="395020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108192" y="38999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Differenze geografiche evidenti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08192" y="4105656"/>
            <a:ext cx="2834640" cy="621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tutte le stazioni si comportano allo stesso modo: alcune aree registrano un numero molto maggiore di superamenti, riflettendo condizioni locali diverse.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94360" y="1071452"/>
            <a:ext cx="832104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03504" y="1054769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58952" y="1054769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O₃ e NO₂ — concentrazioni più elevate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1295479"/>
            <a:ext cx="8118308" cy="35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100" dirty="0">
                <a:solidFill>
                  <a:srgbClr val="46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gli inquinanti con i valori generalmente più alti. L'ozono presenta forte variabilità nel tempo; il NO₂ mostra diversi episodi anomali con concentrazioni particolarmente elevate.</a:t>
            </a:r>
            <a:r>
              <a:rPr lang="en-US" sz="1100" i="1" dirty="0">
                <a:solidFill>
                  <a:srgbClr val="46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2088" y="1825030"/>
            <a:ext cx="832104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94360" y="1834335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31520" y="1815725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Oscillazioni temporali significative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3084" y="2075688"/>
            <a:ext cx="814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6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concentrazioni non rimangono costanti: O₃ e NO₂ subiscono variazioni marcate, mentre C₆H₆, SO₂ e CO_8h mantengono valori bassi e stabili per tutto il periodo.</a:t>
            </a:r>
            <a:endParaRPr lang="en-US" sz="1100" dirty="0">
              <a:solidFill>
                <a:srgbClr val="465569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2615184"/>
            <a:ext cx="832104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94360" y="2615184"/>
            <a:ext cx="64008" cy="65836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58952" y="26151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Differenze geografiche tra stazioni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8952" y="2871216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6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Viale Marche e viale Liguria mostrano valori medi più elevati per alcuni inquinanti, suggerendo una maggiore esposizione legata al traffico e alla densità abitativa locale.</a:t>
            </a:r>
            <a:endParaRPr lang="en-US" sz="1100" dirty="0">
              <a:solidFill>
                <a:srgbClr val="465569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3366917"/>
            <a:ext cx="832104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94360" y="3384242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58952" y="3405338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NO₂ — inquinante più critico rispetto ai limiti UE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" y="3623671"/>
            <a:ext cx="8156448" cy="382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6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il maggior numero di giorni oltre soglia in quasi tutte le stazioni. PM25 presenta criticità localizzate; PM10 mostra superamenti più contenuti ma ancora presenti.</a:t>
            </a:r>
            <a:endParaRPr lang="en-US" sz="1100" dirty="0">
              <a:solidFill>
                <a:srgbClr val="465569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088" y="4160520"/>
            <a:ext cx="8321040" cy="658368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94360" y="4158916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58952" y="4182578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dell'aria variabile nel tempo e nello spazio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" y="4404681"/>
            <a:ext cx="8156448" cy="357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46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L'EDA evidenzia come la qualità dell'aria vari sensibilmente sia tra i giorni sia tra le zone monitorate, con situazioni localizzate di maggiore rischio ambientale.</a:t>
            </a:r>
            <a:endParaRPr lang="en-US" sz="1100" dirty="0">
              <a:solidFill>
                <a:srgbClr val="465569"/>
              </a:solidFill>
            </a:endParaRPr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BACFD650-E9DC-BE80-B270-9623DF7244C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5840C32A-E8AC-8E4F-DBA8-93A8D2FBCFB6}"/>
              </a:ext>
            </a:extLst>
          </p:cNvPr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Evidenze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(EDA)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Dashboard Power BI – Panoramica Generale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84183" y="91672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dashboard integra grafici interattivi, KPI, mappa geografica e uno slicer per analizzare la qualità dell'aria a Milano.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78630"/>
            <a:ext cx="7970520" cy="33809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10" y="1227622"/>
            <a:ext cx="7459579" cy="32641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589505"/>
            <a:ext cx="1737360" cy="53121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06391" y="4645237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Grafico a Linee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3234" y="481627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Andamento temporale NO₂ e PM25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02969" y="4596160"/>
            <a:ext cx="1852863" cy="531211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2596413" y="4643747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Grafico a Barre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96413" y="481711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tra stazioni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91651" y="4596160"/>
            <a:ext cx="1852863" cy="53121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666644" y="4643747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KPI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86899" y="481627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Superamenti limiti UE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666296" y="4589506"/>
            <a:ext cx="1852864" cy="53121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724048" y="461720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Mappa + Slicer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24048" y="4816279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geografica + filtro mese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Andamento Temporale &amp; Confronto tra Stazioni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1920" y="1225945"/>
            <a:ext cx="4450080" cy="3321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21920" y="1184148"/>
            <a:ext cx="44500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67640" y="1195903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a Linee – Andamento NO₂ e PM25 (feb–mar)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1573417"/>
            <a:ext cx="4343400" cy="24270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640" y="4077258"/>
            <a:ext cx="4389120" cy="393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mantiene concentrazioni più elevate con picchi marcati a fine marzo. PM25 più stabile e mediamente inferiore.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220237"/>
            <a:ext cx="4389120" cy="3321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4617720" y="1184148"/>
            <a:ext cx="4389120" cy="2743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709160" y="12024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 a Barre – Confronto Media per Stazione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585997"/>
            <a:ext cx="4297680" cy="24145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4103363"/>
            <a:ext cx="4297680" cy="36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Viale Liguria e viale Marche mostrano i valori medi più alti di NO₂. PM25 più uniforme tra le stazioni</a:t>
            </a: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KPI - Slicer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Interattivo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0628" y="1518005"/>
            <a:ext cx="4045541" cy="286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50628" y="1427656"/>
            <a:ext cx="4037156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76064" y="14425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– Superamenti Limiti UE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64" y="1792325"/>
            <a:ext cx="3462414" cy="20018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892" y="3779359"/>
            <a:ext cx="2264544" cy="411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PM25: 47 superamenti (&gt;25 µg/m³)  </a:t>
            </a:r>
          </a:p>
          <a:p>
            <a:pPr marL="0" indent="0" algn="just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NO₂: 162 superamenti (&gt;40 µg/m³)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38919" y="981015"/>
            <a:ext cx="4246068" cy="39407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0" name="Shape 7"/>
          <p:cNvSpPr/>
          <p:nvPr/>
        </p:nvSpPr>
        <p:spPr>
          <a:xfrm>
            <a:off x="4647304" y="981015"/>
            <a:ext cx="4237683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769148" y="992754"/>
            <a:ext cx="30032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– Filtro per Mese (febbraio selezionato)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381" y="1382677"/>
            <a:ext cx="4155313" cy="2950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470" y="4460537"/>
            <a:ext cx="4148517" cy="32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Selezionando il mese, tutti i grafici e KPI si aggiornano automaticamente.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1995-3324-51D7-FD92-C0438202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3F2AF8-92BB-B1DA-32C1-666529D2F99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C9BC75-96FB-A31B-CAAB-7642CB4EC664}"/>
              </a:ext>
            </a:extLst>
          </p:cNvPr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Geografica</a:t>
            </a:r>
            <a:endParaRPr lang="en-US" sz="22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D41EEA3-320F-C873-9F4A-4AC022C993BF}"/>
              </a:ext>
            </a:extLst>
          </p:cNvPr>
          <p:cNvSpPr/>
          <p:nvPr/>
        </p:nvSpPr>
        <p:spPr>
          <a:xfrm>
            <a:off x="1211179" y="1135045"/>
            <a:ext cx="6761747" cy="39021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B0E102A-87E4-340F-3CA7-F8DA40ABBE27}"/>
              </a:ext>
            </a:extLst>
          </p:cNvPr>
          <p:cNvSpPr/>
          <p:nvPr/>
        </p:nvSpPr>
        <p:spPr>
          <a:xfrm>
            <a:off x="1215744" y="997885"/>
            <a:ext cx="6757182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07B7531-6F0B-D3FD-027D-9654ADE9D7FE}"/>
              </a:ext>
            </a:extLst>
          </p:cNvPr>
          <p:cNvSpPr/>
          <p:nvPr/>
        </p:nvSpPr>
        <p:spPr>
          <a:xfrm>
            <a:off x="1352103" y="10271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Geografica – Stazioni di Monitoraggio</a:t>
            </a:r>
            <a:endParaRPr lang="en-US" sz="11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B7E33DC7-25E7-9474-6B86-E93B7C913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199" y="1301755"/>
            <a:ext cx="6071935" cy="3407137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EFD812F8-0CAD-30C5-A708-DC05E1A6C5B7}"/>
              </a:ext>
            </a:extLst>
          </p:cNvPr>
          <p:cNvSpPr/>
          <p:nvPr/>
        </p:nvSpPr>
        <p:spPr>
          <a:xfrm>
            <a:off x="1352103" y="4738048"/>
            <a:ext cx="6757182" cy="270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cerchi sono proporzionali al valore medio misurato. Hover per visualizzare nome, coordinate e media.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89935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500" normalizeH="0" baseline="0" noProof="0" dirty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del Progetto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9377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AIRE — Qualità dell'Aria a Milano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411480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170432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0664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Database MySQL (aire_db)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0664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relazionale con 4 tabelle progettate senza ridondanze. I dati delle 9 stazioni ARPA di Milano sono stati importati da file CSV e organizzati per supportare analisi SQL complesse.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0" y="1170432"/>
            <a:ext cx="411480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37760" y="1170432"/>
            <a:ext cx="640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84064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 Desktop Python &amp; Tkinter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84064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Applicazione a 5 schede collegata al database tramite mysql-connector. Permette operazioni CRUD, filtri per stazione/inquinante, grafici Matplotlib e monitoraggio dei superamenti UE.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2313432"/>
            <a:ext cx="411480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2313432"/>
            <a:ext cx="64008" cy="10058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0664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 (EDA)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0664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O₃ e NO₂ risultano gli inquinanti più critici. Viale Liguria e viale Marche mostrano le concentrazioni più alte. PM25 presenta criticità localizzate; C₆H₆, SO₂ e CO_8h si mantengono stabili e bassi.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937760" y="2313432"/>
            <a:ext cx="411480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37760" y="2313432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84064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162 superamenti NO₂ / 47 PM25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84064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Il NO₂ supera il limite UE di 40 µg/m³ in quasi tutte le stazioni nel periodo analizzato. PM25 mostra superamenti soprattutto in via Pascal, via Senato e viale Marche.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3456432"/>
            <a:ext cx="411480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3456432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0664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0664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Strumento interattivo con grafico temporale, confronto per stazione, KPI dei superamenti, mappa geografica e slicer per mese. Consente un'analisi visuale immediata della qualità dell'aria.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37760" y="3456432"/>
            <a:ext cx="411480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37760" y="3456432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84064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dell'aria variabile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84064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L'analisi mostra variazioni significative sia nel tempo sia tra le zone monitorate. Le condizioni locali — traffico, densità abitativa, meteo — influenzano sensibilmente i livelli di inquinamento.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" y="4818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dell'Aria a Milano – Progetto AIRE  •  2026  •  Python · MySQL · Power BI · Tkinter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1944</Words>
  <Application>Microsoft Macintosh PowerPoint</Application>
  <PresentationFormat>Presentazione su schermo (16:9)</PresentationFormat>
  <Paragraphs>238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Segoe UI Emoji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Qualità dell'Aria a Milano – Progetto AIRE</dc:title>
  <dc:subject>PptxGenJS Presentation</dc:subject>
  <dc:creator>PptxGenJS</dc:creator>
  <cp:lastModifiedBy>MORETTI EVA [SM2000801]</cp:lastModifiedBy>
  <cp:revision>32</cp:revision>
  <cp:lastPrinted>2026-05-21T09:45:32Z</cp:lastPrinted>
  <dcterms:created xsi:type="dcterms:W3CDTF">2026-05-20T20:20:22Z</dcterms:created>
  <dcterms:modified xsi:type="dcterms:W3CDTF">2026-05-21T09:53:48Z</dcterms:modified>
</cp:coreProperties>
</file>